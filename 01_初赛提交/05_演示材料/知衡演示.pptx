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2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a9f898c75c467a" /><Relationship Type="http://schemas.openxmlformats.org/officeDocument/2006/relationships/extended-properties" Target="/docProps/app.xml" Id="R12c8e13ff76b4f56" /><Relationship Type="http://schemas.openxmlformats.org/officeDocument/2006/relationships/officeDocument" Target="/ppt/presentation.xml" Id="Ra4643be97f3c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072b13e9e846fb"/>
  </p:sldMasterIdLst>
  <p:notesMasterIdLst>
    <p:notesMasterId xmlns:r="http://schemas.openxmlformats.org/officeDocument/2006/relationships" r:id="R5d3fd0cdfc84439f"/>
  </p:notesMasterIdLst>
  <p:sldIdLst>
    <p:sldId xmlns:r="http://schemas.openxmlformats.org/officeDocument/2006/relationships" id="256" r:id="Rea2b8709370945f6"/>
    <p:sldId xmlns:r="http://schemas.openxmlformats.org/officeDocument/2006/relationships" id="257" r:id="R5962e8fc48644bee"/>
    <p:sldId xmlns:r="http://schemas.openxmlformats.org/officeDocument/2006/relationships" id="258" r:id="Re1100d9ff9e94a65"/>
    <p:sldId xmlns:r="http://schemas.openxmlformats.org/officeDocument/2006/relationships" id="259" r:id="R4477bb4550214d45"/>
    <p:sldId xmlns:r="http://schemas.openxmlformats.org/officeDocument/2006/relationships" id="260" r:id="R0e0ab5f482d148bf"/>
    <p:sldId xmlns:r="http://schemas.openxmlformats.org/officeDocument/2006/relationships" id="261" r:id="R7abe12acd0e1431f"/>
    <p:sldId xmlns:r="http://schemas.openxmlformats.org/officeDocument/2006/relationships" id="262" r:id="Rde18035bbf6b4773"/>
    <p:sldId xmlns:r="http://schemas.openxmlformats.org/officeDocument/2006/relationships" id="263" r:id="Rc759228067294579"/>
    <p:sldId xmlns:r="http://schemas.openxmlformats.org/officeDocument/2006/relationships" id="264" r:id="Rf7a79d345f6a4915"/>
    <p:sldId xmlns:r="http://schemas.openxmlformats.org/officeDocument/2006/relationships" id="265" r:id="R1c5e181d47fb427c"/>
    <p:sldId xmlns:r="http://schemas.openxmlformats.org/officeDocument/2006/relationships" id="266" r:id="Ra4203139418942ca"/>
    <p:sldId xmlns:r="http://schemas.openxmlformats.org/officeDocument/2006/relationships" id="267" r:id="Ref16fd432b8a4542"/>
    <p:sldId xmlns:r="http://schemas.openxmlformats.org/officeDocument/2006/relationships" id="268" r:id="R5a71784a9a174b70"/>
    <p:sldId xmlns:r="http://schemas.openxmlformats.org/officeDocument/2006/relationships" id="269" r:id="R20fe48835fe04c2b"/>
    <p:sldId xmlns:r="http://schemas.openxmlformats.org/officeDocument/2006/relationships" id="270" r:id="Ra5766f84a4f0430c"/>
    <p:sldId xmlns:r="http://schemas.openxmlformats.org/officeDocument/2006/relationships" id="271" r:id="Re28b5b961fb244f4"/>
    <p:sldId xmlns:r="http://schemas.openxmlformats.org/officeDocument/2006/relationships" id="272" r:id="R302d2c0c6b104ce5"/>
    <p:sldId xmlns:r="http://schemas.openxmlformats.org/officeDocument/2006/relationships" id="273" r:id="Rcaaf35b8c8994d46"/>
    <p:sldId xmlns:r="http://schemas.openxmlformats.org/officeDocument/2006/relationships" id="274" r:id="R1e3b44edcb254223"/>
    <p:sldId xmlns:r="http://schemas.openxmlformats.org/officeDocument/2006/relationships" id="275" r:id="Rbff837a7877f4c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a6c849a6f4286" /><Relationship Type="http://schemas.openxmlformats.org/officeDocument/2006/relationships/slideMaster" Target="/ppt/slideMasters/slideMaster1.xml" Id="Re9072b13e9e846fb" /><Relationship Type="http://schemas.openxmlformats.org/officeDocument/2006/relationships/notesMaster" Target="/ppt/notesMasters/notesMaster1.xml" Id="R5d3fd0cdfc84439f" /><Relationship Type="http://schemas.openxmlformats.org/officeDocument/2006/relationships/presProps" Target="/ppt/presProps.xml" Id="R8dc46fa1709648eb" /><Relationship Type="http://schemas.openxmlformats.org/officeDocument/2006/relationships/tableStyles" Target="/ppt/tableStyles.xml" Id="Ra92e8a9bdae6414b" /><Relationship Type="http://schemas.openxmlformats.org/officeDocument/2006/relationships/slide" Target="/ppt/slides/slide1.xml" Id="Rea2b8709370945f6" /><Relationship Type="http://schemas.openxmlformats.org/officeDocument/2006/relationships/slide" Target="/ppt/slides/slide2.xml" Id="R5962e8fc48644bee" /><Relationship Type="http://schemas.openxmlformats.org/officeDocument/2006/relationships/slide" Target="/ppt/slides/slide3.xml" Id="Re1100d9ff9e94a65" /><Relationship Type="http://schemas.openxmlformats.org/officeDocument/2006/relationships/slide" Target="/ppt/slides/slide4.xml" Id="R4477bb4550214d45" /><Relationship Type="http://schemas.openxmlformats.org/officeDocument/2006/relationships/slide" Target="/ppt/slides/slide5.xml" Id="R0e0ab5f482d148bf" /><Relationship Type="http://schemas.openxmlformats.org/officeDocument/2006/relationships/slide" Target="/ppt/slides/slide6.xml" Id="R7abe12acd0e1431f" /><Relationship Type="http://schemas.openxmlformats.org/officeDocument/2006/relationships/slide" Target="/ppt/slides/slide7.xml" Id="Rde18035bbf6b4773" /><Relationship Type="http://schemas.openxmlformats.org/officeDocument/2006/relationships/slide" Target="/ppt/slides/slide8.xml" Id="Rc759228067294579" /><Relationship Type="http://schemas.openxmlformats.org/officeDocument/2006/relationships/slide" Target="/ppt/slides/slide9.xml" Id="Rf7a79d345f6a4915" /><Relationship Type="http://schemas.openxmlformats.org/officeDocument/2006/relationships/slide" Target="/ppt/slides/slide10.xml" Id="R1c5e181d47fb427c" /><Relationship Type="http://schemas.openxmlformats.org/officeDocument/2006/relationships/slide" Target="/ppt/slides/slide11.xml" Id="Ra4203139418942ca" /><Relationship Type="http://schemas.openxmlformats.org/officeDocument/2006/relationships/slide" Target="/ppt/slides/slide12.xml" Id="Ref16fd432b8a4542" /><Relationship Type="http://schemas.openxmlformats.org/officeDocument/2006/relationships/slide" Target="/ppt/slides/slide13.xml" Id="R5a71784a9a174b70" /><Relationship Type="http://schemas.openxmlformats.org/officeDocument/2006/relationships/slide" Target="/ppt/slides/slide14.xml" Id="R20fe48835fe04c2b" /><Relationship Type="http://schemas.openxmlformats.org/officeDocument/2006/relationships/slide" Target="/ppt/slides/slide15.xml" Id="Ra5766f84a4f0430c" /><Relationship Type="http://schemas.openxmlformats.org/officeDocument/2006/relationships/slide" Target="/ppt/slides/slide16.xml" Id="Re28b5b961fb244f4" /><Relationship Type="http://schemas.openxmlformats.org/officeDocument/2006/relationships/slide" Target="/ppt/slides/slide17.xml" Id="R302d2c0c6b104ce5" /><Relationship Type="http://schemas.openxmlformats.org/officeDocument/2006/relationships/slide" Target="/ppt/slides/slide18.xml" Id="Rcaaf35b8c8994d46" /><Relationship Type="http://schemas.openxmlformats.org/officeDocument/2006/relationships/slide" Target="/ppt/slides/slide19.xml" Id="R1e3b44edcb254223" /><Relationship Type="http://schemas.openxmlformats.org/officeDocument/2006/relationships/slide" Target="/ppt/slides/slide20.xml" Id="Rbff837a7877f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a69c0831747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知衡 暖白铜灰绿">
      <a:dk1>
        <a:srgbClr val="26332E"/>
      </a:dk1>
      <a:lt1>
        <a:srgbClr val="FFFFFF"/>
      </a:lt1>
      <a:dk2>
        <a:srgbClr val="3F4E44"/>
      </a:dk2>
      <a:lt2>
        <a:srgbClr val="E8EAE4"/>
      </a:lt2>
      <a:accent1>
        <a:srgbClr val="9B5936"/>
      </a:accent1>
      <a:accent2>
        <a:srgbClr val="819287"/>
      </a:accent2>
      <a:accent3>
        <a:srgbClr val="B4A998"/>
      </a:accent3>
      <a:accent4>
        <a:srgbClr val="7E7870"/>
      </a:accent4>
      <a:accent5>
        <a:srgbClr val="4D6255"/>
      </a:accent5>
      <a:accent6>
        <a:srgbClr val="BAA188"/>
      </a:accent6>
      <a:hlink>
        <a:srgbClr val="9B5936"/>
      </a:hlink>
      <a:folHlink>
        <a:srgbClr val="819287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知衡 暖白铜灰绿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fccf4fb33149fd" /><Relationship Type="http://schemas.openxmlformats.org/officeDocument/2006/relationships/notesMaster" Target="/ppt/notesMasters/notesMaster1.xml" Id="R3da410fae04940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6628d6ed4a4aa0" /><Relationship Type="http://schemas.openxmlformats.org/officeDocument/2006/relationships/notesMaster" Target="/ppt/notesMasters/notesMaster1.xml" Id="R682559b6210d41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b47498f7a447cd" /><Relationship Type="http://schemas.openxmlformats.org/officeDocument/2006/relationships/notesMaster" Target="/ppt/notesMasters/notesMaster1.xml" Id="R40a73af290c946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e216d3906d4f41" /><Relationship Type="http://schemas.openxmlformats.org/officeDocument/2006/relationships/notesMaster" Target="/ppt/notesMasters/notesMaster1.xml" Id="R018ac5d9091e4a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204869be5b4e0b" /><Relationship Type="http://schemas.openxmlformats.org/officeDocument/2006/relationships/notesMaster" Target="/ppt/notesMasters/notesMaster1.xml" Id="R6ea68c3f2c5348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15f1d13d74a2c" /><Relationship Type="http://schemas.openxmlformats.org/officeDocument/2006/relationships/notesMaster" Target="/ppt/notesMasters/notesMaster1.xml" Id="R827e8c070ef64e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8157a5bdde4ab0" /><Relationship Type="http://schemas.openxmlformats.org/officeDocument/2006/relationships/notesMaster" Target="/ppt/notesMasters/notesMaster1.xml" Id="Rb6b1b003f18b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05437c77384c12" /><Relationship Type="http://schemas.openxmlformats.org/officeDocument/2006/relationships/notesMaster" Target="/ppt/notesMasters/notesMaster1.xml" Id="Rd6d31591c12740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15deb802f7486d" /><Relationship Type="http://schemas.openxmlformats.org/officeDocument/2006/relationships/notesMaster" Target="/ppt/notesMasters/notesMaster1.xml" Id="Rd4507563bf554c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83fc606e404c71" /><Relationship Type="http://schemas.openxmlformats.org/officeDocument/2006/relationships/notesMaster" Target="/ppt/notesMasters/notesMaster1.xml" Id="Rfeb22f46bb374e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16e37a560d4d1c" /><Relationship Type="http://schemas.openxmlformats.org/officeDocument/2006/relationships/notesMaster" Target="/ppt/notesMasters/notesMaster1.xml" Id="Rf0c0fc8160de4b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4643431e7a4013" /><Relationship Type="http://schemas.openxmlformats.org/officeDocument/2006/relationships/notesMaster" Target="/ppt/notesMasters/notesMaster1.xml" Id="R235176cd187e49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62038a24d4e42e1" /><Relationship Type="http://schemas.openxmlformats.org/officeDocument/2006/relationships/notesMaster" Target="/ppt/notesMasters/notesMaster1.xml" Id="R77773442ca0846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961db53b6c41db" /><Relationship Type="http://schemas.openxmlformats.org/officeDocument/2006/relationships/notesMaster" Target="/ppt/notesMasters/notesMaster1.xml" Id="R2be2493775514f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d291b2bbb14c63" /><Relationship Type="http://schemas.openxmlformats.org/officeDocument/2006/relationships/notesMaster" Target="/ppt/notesMasters/notesMaster1.xml" Id="Rd44b349bc71246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8ddb59edeb475c" /><Relationship Type="http://schemas.openxmlformats.org/officeDocument/2006/relationships/notesMaster" Target="/ppt/notesMasters/notesMaster1.xml" Id="R8bbc4613b0e749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ff7f4685af4634" /><Relationship Type="http://schemas.openxmlformats.org/officeDocument/2006/relationships/notesMaster" Target="/ppt/notesMasters/notesMaster1.xml" Id="R22bf2117f13a40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6554072ac84b70" /><Relationship Type="http://schemas.openxmlformats.org/officeDocument/2006/relationships/notesMaster" Target="/ppt/notesMasters/notesMaster1.xml" Id="R5a38ab40ffdf46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853addf7094c2a" /><Relationship Type="http://schemas.openxmlformats.org/officeDocument/2006/relationships/notesMaster" Target="/ppt/notesMasters/notesMaster1.xml" Id="R718100428a514fe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563a23571e4b63" /><Relationship Type="http://schemas.openxmlformats.org/officeDocument/2006/relationships/notesMaster" Target="/ppt/notesMasters/notesMaster1.xml" Id="Ree2864663d43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来源：01_设计报告，项目概述；02_技术实现说明书，系统定位。作品聚焦可解释问数问答，不承诺任何输入均可形成正确答案。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来源：02_技术实现说明书§NL2SQL/RAG/跨源/上下文；评审资源/脱敏展现数据.json，sql-051、RD-B08-01与acceptance-cross相关场景。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来源：01_设计报告创新与系统设计；02_技术实现说明书发布契约、来源快照、计算协议与上下文。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来源：02_技术实现说明书系统架构；backend/answer_service.py、source_scope.py、answer_store.py。复杂工具路径包含跨源及需要计算/视觉工具的单文档。图示为简化有效路径，解析可预先完成。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summary/corpus；03_作品原始文件.zip清单。12份真实资料按独立完整出版卷/手册计数，同一著作多卷按卷与来源组分别说明。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来源：02_技术实现说明书NL2SQL；backend/query_planner.py、schema_linking.py、sql_engine.py。Schema检索为词法/别名/有界列值，embedding_used=False；超过16表才候选选表并扩展外键桥。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cases[case_id=sql-051]，完整12行published result；reference.reference_sql。完整表格保留12行。数据为Chinook公开教学库。 实际发布SQL外层Artist→Album→Track，一曲一行，使用COUNT(t.TrackId)；独立参考SQL使用COUNT(DISTINCT TrackId)，在本表粒度下等价。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来源：02_技术实现说明书RAG；backend/document_engine.py、document_structure.py、retrieval/service.py、retrieval/hybrid.py。本地E5，BM25+RRF，完整精确向量扫描。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cases RD-B08-01、RD-B04-01、工程A01-Q1。B08核原PDF物理273、277页；B04约400°C只比较曲线顺序；A01结果为假设输入下估算。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来源：02_技术实现说明书跨源工具链与单位协议；评审资源/脱敏展现数据.json acceptance-cross-t6。此页解释既有机制，成功例证属于历史受控验收，不表示本次跨源演示成功。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cases[工程A01-Q1]及acceptance-cross-t6；backend/formula_engine.py采用40位Decimal。FHWA NHI-06-088式5-28给出常用换算。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来源：评审资源/本次演示明细.json demo_clarify_20261019 / demo_clarify_resolved_20261019；实机截图04b和05。已知工时为2小时，另有1条NULL，原正文未明确披露。截图是实际Mac界面，未新发请求。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chains[0..2].turns，18轮真实父链独立核验。三链first_attempt_all_correct均false，跨代码修订接续；员工第6轮差值只覆盖已知合计，西店1条NULL。文档第6轮有重复表达。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来源：评审资源/本次演示明细.json rounds[0]，demo_sql_20261019，answer3493018f2f464e768990729d5316540f；实机截图01_SQL结果对照。五行金额和排序通过独立SQL核对。原发布正文195.1/190.1没有固定两位小数，界面显示格式不改原文或原值。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来源：评审资源/本次演示明细.json rounds[1]，demo_rag_b08_20261019；截图02_RAG原页核验；EPA Municipal Nutrient Removal Technologies Reference Document，物理273、277页。本次7项核心事实及6项声明引用核验通过，519.465秒/12请求，第8请求输出截断。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来源：评审资源/本次演示明细.json rounds[2,5,6]与当前模型调用策略；截图06b_失败后独立新问修复后。第3轮依据不足，第6/7轮第6次请求整体超时。第7轮parent_answer_id=null，不能记为年份继承成功；截图是修复后的原失败记录回放，未再发送。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summary/cases；评审资源/本次演示明细.json summary/rounds。历史45场景、44独立问题，86尝试/545模型请求。当前7轮为3完成、1澄清、1依据不足、2失败；状态完成不等于表达完全满足所有要求。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来源：评审资源/脱敏展现数据.json performance.sql.scales与performance.end_to_end、stage_breakdown；04_实测与过程/当前模型调用策略.md。本地SQL取后5次中位数，不含模型/UI；仅千/万两规模，非生产并发基准。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设计报告§7.2最终修订；02_技术实现说明书部署；Windows适配记录；当前源码8cf090fe包与资源核验。旧候选全新解压/新runtime在Mac复用已有Python依赖启动，最终包摘要与HTTP资源检查复用不变资产。Windows无实机验收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来源：最终交付目录实际文件清单。评审导读支持案例/筛选/搜索/逐题展开/真实父链及相对下载，不调用模型。源码ZIP根知衡作品。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14a51d1eb49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2ace5a0bc46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8629bd0b24c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d9d9e174c42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ddc78e09347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375c7d1074e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F8AB26-3208-4450-A3CB-BCA1A7BAC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3EBC44-BD5E-45FC-B5E6-479A3CD7C2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9B7E79-382B-4097-80F0-685836A4F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093EF7-87B2-496C-8AA5-F4CD4044A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0AB8F7-A3E2-4FA7-B28B-669C5DE4AC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AA05BC-54C0-4E1F-9CC6-51D056901F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B431D6-EE1B-45B3-96FA-BAA6AA627B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A3EDC8-CF1C-445C-A5CA-335BA18003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472A3E-D8AE-4CA2-B4DC-92BAC2E6F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4A2B1E-AE75-43C6-8D42-B8C66023E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f07b2b25404a11" /><Relationship Type="http://schemas.openxmlformats.org/officeDocument/2006/relationships/slideLayout" Target="/ppt/slideLayouts/slideLayout1.xml" Id="Rd50bff9d6a604ca7" /><Relationship Type="http://schemas.openxmlformats.org/officeDocument/2006/relationships/slideLayout" Target="/ppt/slideLayouts/slideLayout2.xml" Id="R3e98cfe3b4c84e94" /><Relationship Type="http://schemas.openxmlformats.org/officeDocument/2006/relationships/slideLayout" Target="/ppt/slideLayouts/slideLayout3.xml" Id="Rb54d926bd7044d35" /><Relationship Type="http://schemas.openxmlformats.org/officeDocument/2006/relationships/slideLayout" Target="/ppt/slideLayouts/slideLayout4.xml" Id="R2d4847a89dac478c" /><Relationship Type="http://schemas.openxmlformats.org/officeDocument/2006/relationships/slideLayout" Target="/ppt/slideLayouts/slideLayout5.xml" Id="Rbbb678e2417c47b2" /><Relationship Type="http://schemas.openxmlformats.org/officeDocument/2006/relationships/slideLayout" Target="/ppt/slideLayouts/slideLayout6.xml" Id="R1e8b43459c8547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0bff9d6a604ca7"/>
    <p:sldLayoutId xmlns:r="http://schemas.openxmlformats.org/officeDocument/2006/relationships" id="2147483650" r:id="R3e98cfe3b4c84e94"/>
    <p:sldLayoutId xmlns:r="http://schemas.openxmlformats.org/officeDocument/2006/relationships" id="2147483651" r:id="Rb54d926bd7044d35"/>
    <p:sldLayoutId xmlns:r="http://schemas.openxmlformats.org/officeDocument/2006/relationships" id="2147483652" r:id="R2d4847a89dac478c"/>
    <p:sldLayoutId xmlns:r="http://schemas.openxmlformats.org/officeDocument/2006/relationships" id="2147483653" r:id="Rbbb678e2417c47b2"/>
    <p:sldLayoutId xmlns:r="http://schemas.openxmlformats.org/officeDocument/2006/relationships" id="2147483654" r:id="R1e8b43459c8547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知衡 暖白铜灰绿">
      <a:dk1>
        <a:srgbClr val="26332E"/>
      </a:dk1>
      <a:lt1>
        <a:srgbClr val="FFFFFF"/>
      </a:lt1>
      <a:dk2>
        <a:srgbClr val="3F4E44"/>
      </a:dk2>
      <a:lt2>
        <a:srgbClr val="E8EAE4"/>
      </a:lt2>
      <a:accent1>
        <a:srgbClr val="9B5936"/>
      </a:accent1>
      <a:accent2>
        <a:srgbClr val="819287"/>
      </a:accent2>
      <a:accent3>
        <a:srgbClr val="B4A998"/>
      </a:accent3>
      <a:accent4>
        <a:srgbClr val="7E7870"/>
      </a:accent4>
      <a:accent5>
        <a:srgbClr val="4D6255"/>
      </a:accent5>
      <a:accent6>
        <a:srgbClr val="BAA188"/>
      </a:accent6>
      <a:hlink>
        <a:srgbClr val="9B5936"/>
      </a:hlink>
      <a:folHlink>
        <a:srgbClr val="819287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知衡 暖白铜灰绿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a31d838a814d01" /><Relationship Type="http://schemas.openxmlformats.org/officeDocument/2006/relationships/notesSlide" Target="/ppt/notesSlides/notesSlide1.xml" Id="R62d0c5712abc4e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67b40caa54abc" /><Relationship Type="http://schemas.openxmlformats.org/officeDocument/2006/relationships/notesSlide" Target="/ppt/notesSlides/notesSlide2.xml" Id="R594ff1c4b46e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b8a03d7127433e" /><Relationship Type="http://schemas.openxmlformats.org/officeDocument/2006/relationships/notesSlide" Target="/ppt/notesSlides/notesSlide3.xml" Id="R385b5698c45842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4f1946e3f4c51" /><Relationship Type="http://schemas.openxmlformats.org/officeDocument/2006/relationships/notesSlide" Target="/ppt/notesSlides/notesSlide4.xml" Id="R9621fc0cb60a43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02b5f2d7a491b" /><Relationship Type="http://schemas.openxmlformats.org/officeDocument/2006/relationships/notesSlide" Target="/ppt/notesSlides/notesSlide5.xml" Id="R954867e3cfae4d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608590e374e86" /><Relationship Type="http://schemas.openxmlformats.org/officeDocument/2006/relationships/notesSlide" Target="/ppt/notesSlides/notesSlide6.xml" Id="Rcffe5a7109254a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ba781d70444a0d" /><Relationship Type="http://schemas.openxmlformats.org/officeDocument/2006/relationships/notesSlide" Target="/ppt/notesSlides/notesSlide7.xml" Id="Rc14a1a144f924b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9aafd554fa4541" /><Relationship Type="http://schemas.openxmlformats.org/officeDocument/2006/relationships/notesSlide" Target="/ppt/notesSlides/notesSlide8.xml" Id="R4dae114c260c43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30fb8a7414953" /><Relationship Type="http://schemas.openxmlformats.org/officeDocument/2006/relationships/notesSlide" Target="/ppt/notesSlides/notesSlide9.xml" Id="R70ace06a3b3d4c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a4a366d194cb9" /><Relationship Type="http://schemas.openxmlformats.org/officeDocument/2006/relationships/notesSlide" Target="/ppt/notesSlides/notesSlide10.xml" Id="R8c2a5d70a65e43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c1e4a582e4a07" /><Relationship Type="http://schemas.openxmlformats.org/officeDocument/2006/relationships/notesSlide" Target="/ppt/notesSlides/notesSlide11.xml" Id="R74763d27056445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8fb0104fe4711" /><Relationship Type="http://schemas.openxmlformats.org/officeDocument/2006/relationships/image" Target="/ppt/media/image.png" Id="Rbf38f0ea775c41c4" /><Relationship Type="http://schemas.openxmlformats.org/officeDocument/2006/relationships/image" Target="/ppt/media/image2.png" Id="Rc8252c5b12974874" /><Relationship Type="http://schemas.openxmlformats.org/officeDocument/2006/relationships/notesSlide" Target="/ppt/notesSlides/notesSlide12.xml" Id="R5c1e07e6be2f47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414152549e4e61" /><Relationship Type="http://schemas.openxmlformats.org/officeDocument/2006/relationships/notesSlide" Target="/ppt/notesSlides/notesSlide13.xml" Id="Rdfedb24386c74c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c4afe5f014f77" /><Relationship Type="http://schemas.openxmlformats.org/officeDocument/2006/relationships/image" Target="/ppt/media/image3.png" Id="R2ff813003f044404" /><Relationship Type="http://schemas.openxmlformats.org/officeDocument/2006/relationships/notesSlide" Target="/ppt/notesSlides/notesSlide14.xml" Id="R7f82f590377c44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163916bcef4c0a" /><Relationship Type="http://schemas.openxmlformats.org/officeDocument/2006/relationships/image" Target="/ppt/media/image4.png" Id="R16a2e0f339154918" /><Relationship Type="http://schemas.openxmlformats.org/officeDocument/2006/relationships/notesSlide" Target="/ppt/notesSlides/notesSlide15.xml" Id="Rb68083d5d9854b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5cf87b81f474d" /><Relationship Type="http://schemas.openxmlformats.org/officeDocument/2006/relationships/image" Target="/ppt/media/image5.png" Id="R83b5ea5914454fa5" /><Relationship Type="http://schemas.openxmlformats.org/officeDocument/2006/relationships/image" Target="/ppt/media/image6.png" Id="R6aaf7f1795734471" /><Relationship Type="http://schemas.openxmlformats.org/officeDocument/2006/relationships/notesSlide" Target="/ppt/notesSlides/notesSlide16.xml" Id="R0ba5756c95c242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3dd679362487d" /><Relationship Type="http://schemas.openxmlformats.org/officeDocument/2006/relationships/chart" Target="/ppt/slides/charts/chart1.xml" Id="R471d960324b74281" /><Relationship Type="http://schemas.openxmlformats.org/officeDocument/2006/relationships/notesSlide" Target="/ppt/notesSlides/notesSlide17.xml" Id="R2179521faaba4a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a558decb24db3" /><Relationship Type="http://schemas.openxmlformats.org/officeDocument/2006/relationships/chart" Target="/ppt/slides/charts/chart2.xml" Id="Rb00053730afa42a7" /><Relationship Type="http://schemas.openxmlformats.org/officeDocument/2006/relationships/notesSlide" Target="/ppt/notesSlides/notesSlide18.xml" Id="R4b438e6994764c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c12a51c0648db" /><Relationship Type="http://schemas.openxmlformats.org/officeDocument/2006/relationships/notesSlide" Target="/ppt/notesSlides/notesSlide19.xml" Id="Rc436fa8f5544480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7038a532b24559" /><Relationship Type="http://schemas.openxmlformats.org/officeDocument/2006/relationships/notesSlide" Target="/ppt/notesSlides/notesSlide20.xml" Id="R7bb6862491f94b4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轮数</c:v>
          </c:tx>
          <c:spPr>
            <a:solidFill xmlns:a="http://schemas.openxmlformats.org/drawingml/2006/main">
              <a:srgbClr val="81928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1928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8A58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9856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B5936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完成</c:v>
                </c:pt>
                <c:pt idx="1">
                  <c:v>澄清</c:v>
                </c:pt>
                <c:pt idx="2">
                  <c:v>不足</c:v>
                </c:pt>
                <c:pt idx="3">
                  <c:v>失败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6332E"/>
                  </a:solidFill>
                  <a:latin typeface="Source Han Sans SC"/>
                  <a:ea typeface="Source Han Sans SC"/>
                  <a:cs typeface="Source Han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9D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8F6F1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8F6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全表聚合</c:v>
          </c:tx>
          <c:spPr>
            <a:solidFill xmlns:a="http://schemas.openxmlformats.org/drawingml/2006/main">
              <a:srgbClr val="9B593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1,000行</c:v>
                </c:pt>
                <c:pt idx="1">
                  <c:v>10,000行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1.007833</c:v>
                </c:pt>
                <c:pt idx="1">
                  <c:v>2.418541</c:v>
                </c:pt>
              </c:numCache>
            </c:numRef>
          </c:val>
        </c:ser>
        <c:ser>
          <c:idx val="1"/>
          <c:order val="1"/>
          <c:tx>
            <c:v>索引筛选</c:v>
          </c:tx>
          <c:spPr>
            <a:solidFill xmlns:a="http://schemas.openxmlformats.org/drawingml/2006/main">
              <a:srgbClr val="819287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1,000行</c:v>
                </c:pt>
                <c:pt idx="1">
                  <c:v>10,000行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0.675583</c:v>
                </c:pt>
                <c:pt idx="1">
                  <c:v>1.800875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6332E"/>
                  </a:solidFill>
                  <a:latin typeface="Source Han Sans SC"/>
                  <a:ea typeface="Source Han Sans SC"/>
                  <a:cs typeface="Source Han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0">
              <a:noFill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9D1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6F1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6332E"/>
              </a:solidFill>
              <a:latin typeface="Source Han Sans SC"/>
              <a:ea typeface="Source Han Sans SC"/>
              <a:cs typeface="Source Han Sans SC"/>
            </a:defRPr>
          </a:pPr>
        </a:p>
      </c:txPr>
    </c:legend>
    <c:plotVisOnly val="1"/>
  </c:chart>
  <c:spPr>
    <a:solidFill xmlns:a="http://schemas.openxmlformats.org/drawingml/2006/main">
      <a:srgbClr val="F8F6F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75AFD9-678C-4D48-898B-04E405A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B5A2C-0276-4CB6-A0BA-63915FA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4BC802F-A285-4DBD-8857-1EEA1781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DF2800D-BD6E-4F40-90C4-120F7295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F41CA5-A26C-4106-B4BC-07E9778E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048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面向数据库与复杂资料的</a:t>
            </a:r>
          </a:p>
          <a:p xmlns:a="http://schemas.openxmlformats.org/drawingml/2006/main">
            <a:pPr algn="l">
              <a:def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8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可解释问数问答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3B98BC-C50F-45DD-9C68-E2EB7E1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把问题、已发布结果与原始依据放在同一条阅读路径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647FC-A89B-4AD1-BACC-1BC1AB2E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695325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9B5936"/>
            </a:solidFill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C03506-FED7-4BB1-94EB-1CA8F3E5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自然语言提问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ADBAAC-02FB-4808-A165-810ECE71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149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结果与计算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131772-DB9C-471A-8105-F9ADC44F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149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来源核验</a:t>
            </a:r>
          </a:p>
        </p:txBody>
      </p:sp>
    </p:spTree>
    <p:extLst>
      <p:ext uri="{BB962C8B-B14F-4D97-AF65-F5344CB8AC3E}">
        <p14:creationId xmlns:p14="http://schemas.microsoft.com/office/powerpoint/2010/main" val="1279112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4AA05D2-0DC7-40CC-A287-9D3F73E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实际困难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6F98EAB-2DE4-4CE1-93CC-644E241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问数的难点常出现在“数字正确”之外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29DE3-C477-4770-B727-3EF1A83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4F3FB5-0F34-4AD2-BB7F-6486B837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31EE06-C7B7-49F7-9DB3-5B28AB3A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FE2578-AB8D-40DC-B2D6-33B2FA8E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4FE3C3-1263-4226-BC36-CDA462F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811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统计范围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46E5AE-3B01-44B8-88F6-7CDC89C2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002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至少卖出一首曲目，不能把“全部曲目数”算成销量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EC059-E6CB-4296-B6E9-133DAA3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0507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5428BB4-4479-4A04-9CA2-81F12A9D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C01D80-B93C-4ED9-8A6A-613830E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原文口径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9912AB-29EF-4AA3-9F94-48A634CF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432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设计能力、实测平均值与许可限值属于不同概念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C1EE2-A218-48AC-B89C-C797298C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DCBABA-108C-4C1C-81A2-338F0246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8B278BB-76AB-45FC-BA28-2BAD242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单位与规则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E342A61-7250-4A66-AD4B-A4E3B046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861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数据里的“分”需要有出处的换算规则，NULL仍是未知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4BBD1-F810-4948-9A31-D9C8988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91025"/>
            <a:ext cx="99060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BEDADA-CFEE-4749-BD10-0868C5E7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62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35D0FF3-DCD7-45EF-BF55-99E06543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连续提问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2A18648-059B-4DC7-8CC8-705BAD5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291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年份修改、假设撤销与真实父轮必须相互一致</a:t>
            </a:r>
          </a:p>
        </p:txBody>
      </p:sp>
    </p:spTree>
    <p:extLst>
      <p:ext uri="{BB962C8B-B14F-4D97-AF65-F5344CB8AC3E}">
        <p14:creationId xmlns:p14="http://schemas.microsoft.com/office/powerpoint/2010/main" val="2042935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FF49B4-F08C-48D4-8FF5-70A75E84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核心贡献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13F47AC-8004-436A-B1F0-1CB88447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围绕可核验结果组织执行与交互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CF6DE-3876-4219-B182-4B63409D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C9737E9-3C7A-428E-9F50-97B013E5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FDA6E4-CAAF-48E0-B5D7-02A6DBA1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FA3BEC-0D49-432F-8840-AE78403F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081187-60B0-4983-86F2-6B8C8AA9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证据绑定的发布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303397-C29B-4EDF-AA1B-EB69E28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57425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SQL实际结果、原文引用与计算参数共同进入发布核对。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缺证、澄清和失败保留真实状态。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36C2A5-BB7C-4834-9006-AD923932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FAF669-DB2E-4097-AB9A-DD7F530C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76575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来源可回到原位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E34227-A2D8-46BD-9F9D-38668296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24250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结果表、Schema/SQL、文档页码和对应原文可独立查看。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阅读与对照支持来回核验。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E0E6AD1-8D73-44D7-94EC-D9E550F9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8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3BBEBB-0E74-4E02-A01B-47AF577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43400"/>
            <a:ext cx="895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可撤销的统计口径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D1C5E69-90DB-43C5-9EBA-B888381D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91075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区分用户原话、模型解释与资料事实。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历史轮调整、条件预览、撤销和失败独立新问保持一致。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1513584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7F501-26C3-41EB-929E-E25A6D1D8F83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>
            <a:off x="10601325" y="3571875"/>
            <a:ext cx="1209675" cy="16859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D755B-EC41-498F-9699-B0940763A69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9020175" y="3171825"/>
            <a:ext cx="600075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5BCA4-C500-44E4-8BC3-7ACA711136F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020175" y="3114675"/>
            <a:ext cx="600075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E6F12-D840-475D-9C71-43B456ADA8A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020175" y="2076450"/>
            <a:ext cx="600075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569D5-C2DC-47BE-BF63-F55843DCC63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762625" y="2433638"/>
            <a:ext cx="923925" cy="17192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FDA7F-0A0B-4FB0-806D-446BF385ED1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62625" y="2433638"/>
            <a:ext cx="923925" cy="6810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FC649-3D8C-4979-A9B4-8BAE3FA40CB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762625" y="2076450"/>
            <a:ext cx="923925" cy="357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9E80E-6E80-42F6-860F-9C28797099B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09850" y="2433638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FEB7F0-13CA-40D5-A5F2-83A14FE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系统架构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69AAA22-224D-4B45-AD18-580C10CA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任务路由决定执行路径，来源版本与发布契约贯穿处理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EEEA0-0D4E-4421-90BB-B728DBA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55150C-5911-486D-82EA-4FEBA7BA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3F2539-DC10-43BB-A8C6-CA4C1713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F428C-B2AE-416B-9031-06D90B3A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桌面工作台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FB312-2ED8-4061-90B9-BA78E34E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28825"/>
            <a:ext cx="2428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C"/>
          </a:solidFill>
          <a:ln xmlns:a="http://schemas.openxmlformats.org/drawingml/2006/main" w="12383">
            <a:solidFill>
              <a:srgbClr val="9B593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问答服务</a:t>
            </a:r>
          </a:p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来源快照 / 父轮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D3F49-8CEE-4A02-BC2F-052EEF7D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3355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数据库查询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82460-91F7-46E4-B080-A5C4E75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7177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文档检索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88F59-4F01-412B-96B5-28813EBD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100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复杂工具链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9FD44-1AA2-4CCB-B0DA-8726EF27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71775"/>
            <a:ext cx="1962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C"/>
          </a:solidFill>
          <a:ln xmlns:a="http://schemas.openxmlformats.org/drawingml/2006/main" w="12383">
            <a:solidFill>
              <a:srgbClr val="9B593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核验与发布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5C64D-366E-4FCF-B1E2-66A3F19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8248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完整记录 / 阅读对照 / 原件来源 / 导出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DB7434-E47D-4C3C-A0AD-2AA6587E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最多12份来源</a:t>
            </a:r>
          </a:p>
          <a:p xmlns:a="http://schemas.openxmlformats.org/drawingml/2006/main">
            <a:pPr algn="l">
              <a:def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解析与索引可复用</a:t>
            </a:r>
          </a:p>
        </p:txBody>
      </p:sp>
    </p:spTree>
    <p:extLst>
      <p:ext uri="{BB962C8B-B14F-4D97-AF65-F5344CB8AC3E}">
        <p14:creationId xmlns:p14="http://schemas.microsoft.com/office/powerpoint/2010/main" val="237296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9AC23-3A3B-4880-BF84-49A3D56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数据与复杂资料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2272E8-DF53-48A9-A0C1-AA3AF3F2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原件、派生索引和受控边界样本分别管理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4348-4721-4660-991B-69EFCA02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EFC0FB-6BAF-4A1D-ADEC-A946BA58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63B340-0B47-4A6D-88E2-3B12C822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86AFD34-FA51-464B-B205-678DDAE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12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F4D011-2691-43B0-AEB2-B24AB61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真实完整文档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8BB5B19-B7BB-4E49-BEE7-18BD7DD4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905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2,965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23EC240-8238-45B5-B4A0-C9483F52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76525"/>
            <a:ext cx="2905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物理页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08F009-983D-4A8E-8900-12B945C5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81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8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6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0657388-9368-4516-9863-AD3919D2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7652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超过200页的文档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A76AC-1216-457B-9291-BEB94A3B4881}"/>
              </a:ext>
            </a:extLst>
          </p:cNvPr>
          <p:cNvGraphicFramePr/>
          <p:nvPr/>
        </p:nvGraphicFramePr>
        <p:xfrm>
          <a:off xmlns:a="http://schemas.openxmlformats.org/drawingml/2006/main" x="609600" y="367665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381375"/>
                <a:gridCol w="4924425"/>
              </a:tblGrid>
              <a:tr h="452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资料层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实际覆盖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用途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公开技术原件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FHWA / DOE / EPA等12份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长文档、图表、公式与原页核验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数据库与schema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业务/教学4库；性能2库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SQL、关系、规模与空值边界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受控多格式资料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18份样本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版本、库存、单位和异常路径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617314-5DD5-4A4A-99A3-F656EFE8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最大文档462页，索引13,017块。当前资料不代表任意CAD或所有扫描元素均已识别。</a:t>
            </a:r>
          </a:p>
        </p:txBody>
      </p:sp>
    </p:spTree>
    <p:extLst>
      <p:ext uri="{BB962C8B-B14F-4D97-AF65-F5344CB8AC3E}">
        <p14:creationId xmlns:p14="http://schemas.microsoft.com/office/powerpoint/2010/main" val="488958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3BE1F-9F98-4ECD-AD7D-0E5B8D1167FB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43950" y="24050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6107B-746D-4610-9E2D-E59DDC037BA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4050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F3DA0-2DB4-4F10-A361-5FB02E46E56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240506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5EA8C6-3EB8-4666-8815-7DE429B1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NL2SQL执行路径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F048BC9-9B63-4A72-8445-ABBD82C4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语义核对与只读执行同时约束查询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47D74-3212-41DD-83E9-9D847FAA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C1C3EF-15F3-4C19-A833-D1778DA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0A9DC7-047E-4F29-90FC-96C4917E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5FDF7-8241-43D4-A0AE-786D0649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457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Schema定位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125FC-C44B-4163-97BF-2CFC48F9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9775"/>
            <a:ext cx="2457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生成查询计划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99998-A549-48EA-83E4-DB3096BF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2457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受限只读执行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25BC1C-5EC4-4846-A024-D844BA92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9775"/>
            <a:ext cx="2457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C"/>
          </a:solidFill>
          <a:ln xmlns:a="http://schemas.openxmlformats.org/drawingml/2006/main" w="12383">
            <a:solidFill>
              <a:srgbClr val="9B593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独立语义复核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7C91379-0701-43B2-9E05-E63C1781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词法、已确认别名</a:t>
            </a:r>
          </a:p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有界列值与声明外键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B786EF-FAE2-401D-A093-D40EA0D4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95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检查AST与机械契约</a:t>
            </a:r>
          </a:p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必要时有界探查/修正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E034FC-5323-446D-8D7E-10312EF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SQLite只读连接</a:t>
            </a:r>
          </a:p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约束耗时、步数、行数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B93A8C-CF57-4741-A5E1-2ECD349D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核对总体、粒度、空值</a:t>
            </a:r>
          </a:p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来源及输出契约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0EC68D4-2E9E-44E4-9D61-4B0B4D13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表结构检索不伪称向量检索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723EB5F-0830-45A3-8F00-4E958CF0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多表关联有安全与粒度检查，仍保留无法确认的语义边界。</a:t>
            </a:r>
          </a:p>
        </p:txBody>
      </p:sp>
    </p:spTree>
    <p:extLst>
      <p:ext uri="{BB962C8B-B14F-4D97-AF65-F5344CB8AC3E}">
        <p14:creationId xmlns:p14="http://schemas.microsoft.com/office/powerpoint/2010/main" val="94089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B965AD-9FD2-4E3B-BD92-47970163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多表查询与结果核对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8BF899B-3A5E-4D4C-B224-58F56BDD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至少售出一首的艺术家，统计其全部曲目数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775A6-65A2-402F-B20E-5253AB2D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EC8594E-27F8-4589-8798-27E228D3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378BC4-E570-4108-A7D3-F907559C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FF11F3-F3D3-4C1C-9C3A-A5E7937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EXISTS 判断销售资格，COUNT(TrackId)统计全部曲目，包含未售出部分。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13A4C-A1A9-4EBA-B8B8-526A62327B11}"/>
              </a:ext>
            </a:extLst>
          </p:cNvPr>
          <p:cNvGraphicFramePr/>
          <p:nvPr/>
        </p:nvGraphicFramePr>
        <p:xfrm>
          <a:off xmlns:a="http://schemas.openxmlformats.org/drawingml/2006/main" x="609600" y="2371725"/>
          <a:ext xmlns:a="http://schemas.openxmlformats.org/drawingml/2006/main" cx="5314950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04875"/>
                <a:gridCol w="2790825"/>
                <a:gridCol w="1619250"/>
              </a:tblGrid>
              <a:tr h="42998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编号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艺术家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全部曲目数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21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Various Artists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56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22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Led Zeppelin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114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50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Metallica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112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58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Deep Purple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92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82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Faith No More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52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90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Iron Maiden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213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B406F-67A4-4E54-A5A8-BA8408A58F06}"/>
              </a:ext>
            </a:extLst>
          </p:cNvPr>
          <p:cNvGraphicFramePr/>
          <p:nvPr/>
        </p:nvGraphicFramePr>
        <p:xfrm>
          <a:off xmlns:a="http://schemas.openxmlformats.org/drawingml/2006/main" x="6267450" y="2371725"/>
          <a:ext xmlns:a="http://schemas.openxmlformats.org/drawingml/2006/main" cx="5314950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04875"/>
                <a:gridCol w="2790825"/>
                <a:gridCol w="1619250"/>
              </a:tblGrid>
              <a:tr h="42998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编号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艺术家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全部曲目数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100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Lenny Kravitz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57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118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Pearl Jam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67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149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Lost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92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150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U2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135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152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Van Halen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52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98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156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The Office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53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292C16-9E3C-41FE-9988-463E7810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完整12行与独立SQL核对一致。原发布文字预览6行，完整结果表可查看与导出。</a:t>
            </a:r>
          </a:p>
        </p:txBody>
      </p:sp>
    </p:spTree>
    <p:extLst>
      <p:ext uri="{BB962C8B-B14F-4D97-AF65-F5344CB8AC3E}">
        <p14:creationId xmlns:p14="http://schemas.microsoft.com/office/powerpoint/2010/main" val="2011504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1C6C11-D3FB-4B9B-A65A-317CB3C9AED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43950" y="2466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14F9E-A5E6-4AA3-9717-24DBA6DA92A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2466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C2100-E08A-479A-A84F-B77176C8035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2466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8A011E-A08F-488C-9DE3-034A68A8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RAG证据流程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41B24E9-5AC6-4D1C-8D9A-73227E06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保留位置与表头关系，再核对每项结论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F9D83-4E6A-4525-85C1-E57BF926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8C5C177-CCEC-4D5B-AA34-A2A9E7F5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E55FE6-DD39-4C34-964E-9D927AF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1DAA9-CC9A-44CE-B919-4F4F6099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结构化切分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B2199-DCE6-40C2-83B6-7B4257D8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764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混合召回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964BE-CEB4-4450-A094-34CB301F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补足上下文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EFD5B-9CC2-4B98-BB5D-E573894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C"/>
          </a:solidFill>
          <a:ln xmlns:a="http://schemas.openxmlformats.org/drawingml/2006/main" w="12383">
            <a:solidFill>
              <a:srgbClr val="9B593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生成与逐项核验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B2FDFE4-801F-4707-9BA9-26ADC046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保留页 / span / 表身份</a:t>
            </a:r>
          </a:p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文本、章节与多格式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471064-392B-4B09-AE93-758A4B63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623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BM25 + 本地E5</a:t>
            </a:r>
          </a:p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RRF融合候选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760A8AD-36A4-470E-9926-AF617520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623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必要邻页、章节、表头</a:t>
            </a:r>
          </a:p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明确真实来源范围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E2F2BDF-13AB-4030-A342-284BA86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引用文本与来源匹配</a:t>
            </a:r>
          </a:p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独立语义及覆盖检查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9D34D-5FE5-4AC3-BF19-5CD8637D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D0DEA7-8B4E-4156-A095-68849CCA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00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漏答与缺证分别处理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BAFF655-13A5-4682-A150-FF684A45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普通文档路径最多一次有界补检或补齐。</a:t>
            </a:r>
          </a:p>
          <a:p xmlns:a="http://schemas.openxmlformats.org/drawingml/2006/main">
            <a: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已支持事实与未解决项分开展示。</a:t>
            </a:r>
          </a:p>
        </p:txBody>
      </p:sp>
    </p:spTree>
    <p:extLst>
      <p:ext uri="{BB962C8B-B14F-4D97-AF65-F5344CB8AC3E}">
        <p14:creationId xmlns:p14="http://schemas.microsoft.com/office/powerpoint/2010/main" val="16430203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1E569E-4861-4156-B47D-30DC1EF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复杂要素的核验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589BFB3-14FE-4099-AFB7-3982D84B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表格、曲线与公式使用各自的证据边界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5AD0A-14A0-46F4-9209-4CE43176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FA79133-015D-4100-9A32-29324A57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7988BB-4D95-480C-9076-B2BDDE81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0ED91-F619-4731-B46C-533C90A6763A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48125"/>
                <a:gridCol w="4733925"/>
              </a:tblGrid>
              <a:tr h="8191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原件元素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实际问题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核验重点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多页表格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EPA B08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7 MGD设计能力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4.12 MGD研究期平均流量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辨别Average、最大值与许可限值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进出水浓度绑定同一评价期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图形曲线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DOE B04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约400°C电阻高低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Nickel &gt; Copper &gt; Platinum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只比较图中高低关系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不把曲线估读伪装成精确值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公式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FHWA A01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σc = 24 Is(50)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给定2 MPa，估算48 MPa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绑定公式原页与输入单位</a:t>
                      </a:r>
                    </a:p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保留岩性和标定限制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72E9E2-E64C-42C0-BF8B-3B3E2FF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OCR文字识别不等于表关系恢复；B11物理84页栅格OCR的table_count为0。</a:t>
            </a:r>
          </a:p>
        </p:txBody>
      </p:sp>
    </p:spTree>
    <p:extLst>
      <p:ext uri="{BB962C8B-B14F-4D97-AF65-F5344CB8AC3E}">
        <p14:creationId xmlns:p14="http://schemas.microsoft.com/office/powerpoint/2010/main" val="4168752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6AA74-5860-4D97-A179-9FB79F2D350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358313" y="30289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8EB73-E52B-4ADD-94F0-0A8CB77CA95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6667500" y="2619375"/>
            <a:ext cx="809625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AD087-3229-4C66-9BD1-AE4331DC471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943225" y="3476625"/>
            <a:ext cx="771525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DDAA5-F13C-4C61-B9F4-155F507DD32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43225" y="2514600"/>
            <a:ext cx="771525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19287"/>
            </a:solidFill>
            <a:tailEnd type="triangle" w="sm" len="sm"/>
          </a:ln>
        </p:spPr>
      </p:cxnSp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D6976-35BC-4913-85BD-9C8A67C3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跨源融合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F86FBD-8E19-44E4-B460-02955D07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查询值与规则原文分别提供依据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308B7-F9F4-49FC-9957-D5BD00E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C0C821-0DA3-43E7-8DDD-07D04FC6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C035E0B-2B4C-4037-8E35-2FB45741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D075A-20A5-413F-A724-D9EBEBC7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数据库</a:t>
            </a:r>
          </a:p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实际SQL格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68957-894C-4053-A0EB-44441339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2333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文档</a:t>
            </a:r>
          </a:p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单位与业务规则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FA149-2BBB-44C9-9A9F-9AE6FDA3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C"/>
          </a:solidFill>
          <a:ln xmlns:a="http://schemas.openxmlformats.org/drawingml/2006/main" w="12383">
            <a:solidFill>
              <a:srgbClr val="9B593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绑定参数与规则出处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C4187-DA3C-49CD-AF1F-F7C47BDE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3762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4D9D1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单位归一 / 计算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484A5-7418-4E09-B31D-E97E2CAB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62400"/>
            <a:ext cx="3762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C"/>
          </a:solidFill>
          <a:ln xmlns:a="http://schemas.openxmlformats.org/drawingml/2006/main" w="12383">
            <a:solidFill>
              <a:srgbClr val="9B5936"/>
            </a:solidFill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核验候选 / 发布或保留不足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AFF8978-442A-4701-884F-CBCBF85A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95875"/>
            <a:ext cx="7600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可调用检索、SQL、原页读取、图表、公式和计算工具。</a:t>
            </a:r>
          </a:p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工具有真实结果后，才能支持对应的数值与来源声明。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0A4D88-8814-43D2-A86F-8C6D8C9F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用户假设单独标识，不写成原件事实。最新Mac跨源未发布与超时见第16页。</a:t>
            </a:r>
          </a:p>
        </p:txBody>
      </p:sp>
    </p:spTree>
    <p:extLst>
      <p:ext uri="{BB962C8B-B14F-4D97-AF65-F5344CB8AC3E}">
        <p14:creationId xmlns:p14="http://schemas.microsoft.com/office/powerpoint/2010/main" val="18959211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3DB07F-27C5-47E0-83C7-A5E7BD83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公式与计算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504EE45-34A4-474F-9607-4B4D1978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参数来源、单位与适用条件一并保留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2E536-E483-4359-89BB-305B333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BFFB558-A4AE-4EA8-B7DF-57A2845E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B9111B-4D7B-4918-975C-FDEA0C84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56D106-819B-44F5-A98E-2083C68F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4275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σc = 24 × Is(50)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7D83FB-4178-4997-A021-6F9F1E83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540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48.00 MPa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D233B08-C27D-40C5-A289-50ED08E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用户给定 Is(50)=2 MPa</a:t>
            </a:r>
          </a:p>
          <a:p xmlns:a="http://schemas.openxmlformats.org/drawingml/2006/main">
            <a:pPr algn="l">
              <a:def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按手册常用关系计算的估算值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F9FC8B-9F9A-4326-A569-D2C675E2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288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输入与规则各有出处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F77EDD-95D5-42EA-A189-6C6B1F24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62225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公式来自FHWA原页。</a:t>
            </a:r>
          </a:p>
          <a:p xmlns:a="http://schemas.openxmlformats.org/drawingml/2006/main">
            <a: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2 MPa来自用户假设。</a:t>
            </a:r>
          </a:p>
          <a:p xmlns:a="http://schemas.openxmlformats.org/drawingml/2006/main">
            <a: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结果不冒充实测强度。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E862D7-DC69-4E3D-92B5-3BD1242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005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计算前统一单位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0B6835F-C42A-4DCE-9C54-6BF2E723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33925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先归一参数，再计算与换算。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系数24受岩性与标定条件限制。</a:t>
            </a:r>
          </a:p>
        </p:txBody>
      </p:sp>
    </p:spTree>
    <p:extLst>
      <p:ext uri="{BB962C8B-B14F-4D97-AF65-F5344CB8AC3E}">
        <p14:creationId xmlns:p14="http://schemas.microsoft.com/office/powerpoint/2010/main" val="16825587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0E6318-FED3-4549-9C1C-E309FD17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澄清与上下文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ED16912-06C6-4F05-973B-CBFF6C6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先确认对象，再沿真实父轮继续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2F7D1-13D8-4406-9477-8D37B71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F5857E4-8A23-4317-8B7E-1F9CF41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2B5F3A-4CE8-4036-9076-C6B58E3C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B713C52-45D9-4B83-B0D6-73C0A5AF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对象澄清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83AB6E-606B-4738-9410-A449B67B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40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沿真实父轮查询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78949-F27C-4768-A2C5-C68B9A7D44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8f0ea775c41c4"/>
          <a:srcRect xmlns:a="http://schemas.openxmlformats.org/drawingml/2006/main" l="23000" t="26000" r="23000" b="40000"/>
          <a:stretch xmlns:a="http://schemas.openxmlformats.org/drawingml/2006/main"/>
        </p:blipFill>
        <p:spPr>
          <a:xfrm xmlns:a="http://schemas.openxmlformats.org/drawingml/2006/main">
            <a:off x="609600" y="2247900"/>
            <a:ext cx="5257800" cy="2143483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78F70-94FC-436D-A69D-65BA5EA1B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52c5b12974874"/>
          <a:srcRect xmlns:a="http://schemas.openxmlformats.org/drawingml/2006/main" l="44000" t="40000" r="2000" b="31000"/>
          <a:stretch xmlns:a="http://schemas.openxmlformats.org/drawingml/2006/main"/>
        </p:blipFill>
        <p:spPr>
          <a:xfrm xmlns:a="http://schemas.openxmlformats.org/drawingml/2006/main">
            <a:off x="6286500" y="2247900"/>
            <a:ext cx="5257800" cy="1828265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C6D2CB6-34ED-4CF6-BA22-CE65A4E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525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id=1 东店；id=2 西店。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先确认同名对象，避免静默选人。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52E02B-CB27-4196-BFA9-FA13C75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257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选择西店员工2后，已知合计2小时。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真实父轮关系核验通过。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5D3A29-3D25-4A2F-B789-3CB2EBE7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边界：NULL未知不补零；本次发布正文未显式说明另1条缺失工时。</a:t>
            </a:r>
          </a:p>
        </p:txBody>
      </p:sp>
    </p:spTree>
    <p:extLst>
      <p:ext uri="{BB962C8B-B14F-4D97-AF65-F5344CB8AC3E}">
        <p14:creationId xmlns:p14="http://schemas.microsoft.com/office/powerpoint/2010/main" val="14696940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BCC66B-FE93-41BB-B3A7-841BEAA7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三条真实六轮链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352F651-80C5-4981-8FA1-D7924498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覆盖条件修改、假设撤销和历史引用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2E4A7-D6ED-443A-BD91-481D2E4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C23DEF-D6F8-4138-A241-56224538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6C37A9-E894-442D-B7A2-A7C5EAB5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9B4C1-2155-4D68-8DB3-47B908C772AF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57250"/>
                <a:gridCol w="3143250"/>
                <a:gridCol w="3190875"/>
                <a:gridCol w="3781425"/>
              </a:tblGrid>
              <a:tr h="51298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轮次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跨源金额与假设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同名员工澄清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文档库存与版本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9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2025实际560元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张伟重名，先澄清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低于8件申请，等于8件不申请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9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改2024，实际100元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西店员工2，已知2小时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实盘11 / 台账12 / 差1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9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3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减10%假设，90元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改东店员工1，3小时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假设实盘7件，应申请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9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4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对比2025，差470元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限2024，2小时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撤销假设，不申请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9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撤销假设，恢复100元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撤销年份，恢复3小时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V2.1，2025-03-01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98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6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解释参数来源与换算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东3 / 西2，已知差1小时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汇总边界，假设不再生效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5CC05C-B3E1-49F9-989B-07C53FBE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历史修复或重试后的有效记录。父链连续，跨代码修订接续，不是同一最终版本首次整链全对。</a:t>
            </a:r>
          </a:p>
        </p:txBody>
      </p:sp>
    </p:spTree>
    <p:extLst>
      <p:ext uri="{BB962C8B-B14F-4D97-AF65-F5344CB8AC3E}">
        <p14:creationId xmlns:p14="http://schemas.microsoft.com/office/powerpoint/2010/main" val="222120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DF7BF5-76CF-4770-AC25-E92DF1BD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实机SQL：结果与来源对照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117E09D-1930-40BA-A1E4-8E68262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本次Mac展示，10.633秒，4次模型请求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3B99B-5F47-4CD5-AD7E-62693B19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0ADC08B-18A5-4564-84BC-D333A89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9CE2EC-6E66-4866-B3B3-81B32711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86176-B8A1-460D-97D9-41EC32BC2C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813003f044404"/>
          <a:srcRect xmlns:a="http://schemas.openxmlformats.org/drawingml/2006/main" l="1600" t="22000" r="1700" b="28000"/>
          <a:stretch xmlns:a="http://schemas.openxmlformats.org/drawingml/2006/main"/>
        </p:blipFill>
        <p:spPr>
          <a:xfrm xmlns:a="http://schemas.openxmlformats.org/drawingml/2006/main">
            <a:off x="609600" y="1743075"/>
            <a:ext cx="10972800" cy="36736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15394F-2950-43FA-A0A8-18B4143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完整5行与图表同屏，原始表、Schema/SQL、来源和CSV可继续查看。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BC6CD5-CECA-4576-8022-7B1036E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350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数值与排序核对一致；原发布正文195.1 / 190.1未固定两位小数，显示格式不改写原文。</a:t>
            </a:r>
          </a:p>
        </p:txBody>
      </p:sp>
    </p:spTree>
    <p:extLst>
      <p:ext uri="{BB962C8B-B14F-4D97-AF65-F5344CB8AC3E}">
        <p14:creationId xmlns:p14="http://schemas.microsoft.com/office/powerpoint/2010/main" val="634746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9272B6-C917-4D52-8856-BF58CB69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实机RAG：回到原页核验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36C0130-5D65-4906-8267-9DD639B6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Central Johnston案例，449页文档中的物理页277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E8562-3E1F-4027-9E22-442904D3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D9AD5E-DF8C-4789-9A88-D7E5ACA2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02EC2D9-E2E6-4292-8944-FBAE751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C62F7-292B-481A-B2A7-F45A2445BB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2e0f339154918"/>
          <a:srcRect xmlns:a="http://schemas.openxmlformats.org/drawingml/2006/main" l="14000" t="26000" r="2000" b="5000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6924675" cy="3682986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3FFDF-1F94-4E2B-A830-BF9E90C4C654}"/>
              </a:ext>
            </a:extLst>
          </p:cNvPr>
          <p:cNvGraphicFramePr/>
          <p:nvPr/>
        </p:nvGraphicFramePr>
        <p:xfrm>
          <a:off xmlns:a="http://schemas.openxmlformats.org/drawingml/2006/main" x="7820025" y="1809750"/>
          <a:ext xmlns:a="http://schemas.openxmlformats.org/drawingml/2006/main" cx="3762375" cy="21526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2000250"/>
              </a:tblGrid>
              <a:tr h="5381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项目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Average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实际流量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4.12 MGD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TN进/出水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31.2 / 2.14 mg/L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TP进/出水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5.8 / 0.26 mg/L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11F4B6C-A134-44FE-99DC-C7E690CC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6720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设计能力7 MGD</a:t>
            </a:r>
          </a:p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评价期：2005年10月</a:t>
            </a:r>
          </a:p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至2006年9月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1756E2-BAB5-43FE-842D-B4742F8C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七项核心事实核验通过。耗时519.465秒、12次请求，其中1次输出截断，未隐藏异常。</a:t>
            </a:r>
          </a:p>
        </p:txBody>
      </p:sp>
    </p:spTree>
    <p:extLst>
      <p:ext uri="{BB962C8B-B14F-4D97-AF65-F5344CB8AC3E}">
        <p14:creationId xmlns:p14="http://schemas.microsoft.com/office/powerpoint/2010/main" val="1337445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01F8A-4E06-41BC-B82C-E7924D0B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实机跨源：未发布与超时保留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A930DA0-B0EE-450E-8000-2B89DDB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失败后明确独立新问，不显示无法继承的口径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C6869-8754-4C18-BF69-C2A056A8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582636-DB59-4403-9546-A0549177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ADC6D3-E0CF-4D13-9CD4-235022C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9D91A-6587-410F-BC6D-F9633263B99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3924300" cy="1962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2543175"/>
              </a:tblGrid>
              <a:tr h="4905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本次记录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真实状态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2025首次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依据不足，未发布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2025复演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超时，未发布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2024问题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独立新问，超时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53D56-EEFE-4769-A056-FABD9C17E8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5ea5914454fa5"/>
          <a:srcRect xmlns:a="http://schemas.openxmlformats.org/drawingml/2006/main" l="22000" t="23000" r="19000" b="47000"/>
          <a:stretch xmlns:a="http://schemas.openxmlformats.org/drawingml/2006/main"/>
        </p:blipFill>
        <p:spPr>
          <a:xfrm xmlns:a="http://schemas.openxmlformats.org/drawingml/2006/main">
            <a:off x="4857750" y="1743075"/>
            <a:ext cx="6724650" cy="221396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DC07DF-ABB3-4994-89C8-957C8A84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原失败记录回放：完整原题可复填，草稿可撤销；没有再次发送。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11BD7-9FE2-44F7-94E5-622C7B045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f7f1795734471"/>
          <a:srcRect xmlns:a="http://schemas.openxmlformats.org/drawingml/2006/main" l="2000" t="74500" r="2000" b="12000"/>
          <a:stretch xmlns:a="http://schemas.openxmlformats.org/drawingml/2006/main"/>
        </p:blipFill>
        <p:spPr>
          <a:xfrm xmlns:a="http://schemas.openxmlformats.org/drawingml/2006/main">
            <a:off x="609600" y="4772025"/>
            <a:ext cx="10972800" cy="999104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3FB3D56-889F-4877-9C27-43D3A61A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末轮parent为空，不能计作年份继承成功。修复后明确提示独立新问，并要求完整统计条件。</a:t>
            </a:r>
          </a:p>
        </p:txBody>
      </p:sp>
    </p:spTree>
    <p:extLst>
      <p:ext uri="{BB962C8B-B14F-4D97-AF65-F5344CB8AC3E}">
        <p14:creationId xmlns:p14="http://schemas.microsoft.com/office/powerpoint/2010/main" val="17389069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9B7C4F-38EE-4476-873A-1EB11C21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测试与结果口径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017974D-543D-4EFF-B814-4153E4F5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历史验收与本次展示分别报告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80A94-6547-4AFB-A532-FE631557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2B9857A-ACF7-45C6-8FE9-9A3DEAE4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C75DBC-CAA2-45A1-AAAA-D50B7D2B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BD685-D82E-42B7-99DA-CA90B53EFF78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5772150" cy="2895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295775"/>
                <a:gridCol w="1476375"/>
              </a:tblGrid>
              <a:tr h="482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历史分组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场景数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单表NL2SQL / 单文档RAG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10 / 10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多表SQL / 复杂文档专项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2 / 3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三条六轮链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18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12来源 / 错别字专项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1 / 1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选定记录通过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45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E323F4-248B-4DC0-9664-3AA1FEB4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77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86次尝试 / 545次模型请求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2DDAFBF-49F9-4B0B-87C2-70C6CA89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81175"/>
            <a:ext cx="4429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本次7轮状态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51B1E816-777A-4C34-9986-94456B82032E}"/>
              </a:ext>
            </a:extLst>
          </p:cNvPr>
          <p:cNvGraphicFramePr/>
          <p:nvPr/>
        </p:nvGraphicFramePr>
        <p:xfrm>
          <a:off xmlns:a="http://schemas.openxmlformats.org/drawingml/2006/main" x="6934200" y="2276475"/>
          <a:ext xmlns:a="http://schemas.openxmlformats.org/drawingml/2006/main" cx="46482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1d960324b74281"/>
          </a:graphicData>
        </a:graphic>
      </p:graphicFrame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0C8C77A-C696-4089-9C62-0C304B3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历史45/45为分阶段开发验收与定向复测的选定记录，不是首次成功率、盲测或统一最终版本重跑。</a:t>
            </a:r>
          </a:p>
        </p:txBody>
      </p:sp>
    </p:spTree>
    <p:extLst>
      <p:ext uri="{BB962C8B-B14F-4D97-AF65-F5344CB8AC3E}">
        <p14:creationId xmlns:p14="http://schemas.microsoft.com/office/powerpoint/2010/main" val="20472143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FAC4EA-721C-41C3-B82D-4C71D7D0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效率、鲁棒性与模型策略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B67B1E7-172F-42CC-88EE-F98F7500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本地执行耗时与端到端模型等待分开核算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D3002-1335-4E8F-B545-930FC01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44DF0E-D22D-4EC7-ABA2-6DD46D8E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FD95A3-7318-46FA-9E08-9551F7C5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FDAA4B-B099-4D3A-8546-FFFBD312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本地SQL执行 / 毫秒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2EB85DA-71F2-4F1D-8C56-95210052ABAF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60007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0053730afa42a7"/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B1FE5F-9CEC-4534-8750-9FE32525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4400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普通任务与复杂链分别路由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D9D14B4-6FB4-43F9-8FFD-3D223736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14575"/>
            <a:ext cx="4333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普通SQL、单文档事实提取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使用普通模式。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9D18FB-1AC8-44B6-B22E-B013F68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71850"/>
            <a:ext cx="4333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跨源、计算或视觉工具链</a:t>
            </a:r>
          </a:p>
          <a:p xmlns:a="http://schemas.openxmlformats.org/drawingml/2006/main">
            <a:pPr algn="l">
              <a:def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从首个规划起使用high。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F5D8434-94C6-4969-A9BC-FAE9677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38650"/>
            <a:ext cx="4333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high默认480秒等待。</a:t>
            </a:r>
          </a:p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保留无进展、来源和发布保护，</a:t>
            </a:r>
          </a:p>
          <a:p xmlns:a="http://schemas.openxmlformats.org/drawingml/2006/main">
            <a:pPr algn="l">
              <a:def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95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结果未知的POST不自动重发。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2EC171-4EB3-455B-887E-D7868336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4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历史固定SQL/RAG端到端中位数7.2915 / 9.0425秒，每题取一个有效尝试，不代表本次长链耗时。</a:t>
            </a:r>
          </a:p>
        </p:txBody>
      </p:sp>
    </p:spTree>
    <p:extLst>
      <p:ext uri="{BB962C8B-B14F-4D97-AF65-F5344CB8AC3E}">
        <p14:creationId xmlns:p14="http://schemas.microsoft.com/office/powerpoint/2010/main" val="8748846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E47A4D-ADBE-4644-8D9C-28FFE035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部署与适用边界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E5D7942-0B65-45E9-BDFF-60307484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可复核的部署证据，与仍未验证的环境分开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C407C-1833-44B4-A7C2-8ECC1082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DB9F8BE-6ABB-4FA5-9CCC-649400A4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33D81A-A5E3-4EEC-A0C7-E01BCE9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31040-921D-4023-A50A-238792BF57C3}"/>
              </a:ext>
            </a:extLst>
          </p:cNvPr>
          <p:cNvGraphicFramePr/>
          <p:nvPr/>
        </p:nvGraphicFramePr>
        <p:xfrm>
          <a:off xmlns:a="http://schemas.openxmlformats.org/drawingml/2006/main" x="609600" y="1781175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53050"/>
                <a:gridCol w="5619750"/>
              </a:tblGrid>
              <a:tr h="5791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已提供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仍需明确的边界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T w="7620">
                      <a:solidFill>
                        <a:srgbClr val="D4D9D1"/>
                      </a:solidFill>
                      <a:prstDash val="solid"/>
                    </a:lnT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Mac实际展示与静态资源核验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不是纯净OS安装或生产并发测试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候选全新解压、全新运行目录启停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复用已有Mac依赖，最终版本按差异复核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Windows四个cmd与PowerShell适配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依赖解析及静态检查完成，未做Windows实机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本地E5与资料原件、许可和schema</a:t>
                      </a:r>
                    </a:p>
                  </a:txBody>
                  <a:tcPr marL="114300" marR="95250" marT="19050" marB="9525" anchor="ctr">
                    <a:lnL w="7620">
                      <a:solidFill>
                        <a:srgbClr val="D4D9D1"/>
                      </a:solidFill>
                      <a:prstDash val="solid"/>
                    </a:lnL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32E"/>
                          </a:solidFill>
                          <a:latin typeface="Source Han Sans SC"/>
                          <a:ea typeface="Source Han Sans SC"/>
                          <a:cs typeface="Source Han Sans SC"/>
                        </a:rPr>
                        <a:t>模型问答仍依赖外部服务与有效凭据</a:t>
                      </a:r>
                    </a:p>
                  </a:txBody>
                  <a:tcPr marL="114300" marR="95250" marT="19050" marB="9525" anchor="ctr">
                    <a:lnR w="7620">
                      <a:solidFill>
                        <a:srgbClr val="D4D9D1"/>
                      </a:solidFill>
                      <a:prstDash val="solid"/>
                    </a:lnR>
                    <a:lnB w="7620">
                      <a:solidFill>
                        <a:srgbClr val="D4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BFDC0B-38B6-4E20-9F6E-0BB4359C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请求与返回别名 deepseek-flash 不认证底层权重。</a:t>
            </a:r>
          </a:p>
          <a:p xmlns:a="http://schemas.openxmlformats.org/drawingml/2006/main">
            <a:pPr algn="l">
              <a:def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02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生成与复核为不同调用，同一模型不代表独立权重或独立误差。</a:t>
            </a:r>
          </a:p>
        </p:txBody>
      </p:sp>
    </p:spTree>
    <p:extLst>
      <p:ext uri="{BB962C8B-B14F-4D97-AF65-F5344CB8AC3E}">
        <p14:creationId xmlns:p14="http://schemas.microsoft.com/office/powerpoint/2010/main" val="1951906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7C06A3-A5D9-4736-9943-F0516BE8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30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成果与交付入口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243D01F-40ED-4378-B145-0F8C460A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8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完整材料从离线评审导读进入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A9332-1401-4E69-8D45-83803558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468013-781B-49BB-8A6A-8E98D36A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1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知衡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92CC98-9ADC-4C0C-8D4D-8E8C06AF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defPPr>
            <a:lvl1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275" b="0">
                <a:solidFill>
                  <a:srgbClr val="68756D"/>
                </a:solidFill>
                <a:latin typeface="Source Han Sans SC"/>
                <a:ea typeface="Source Han Sans SC"/>
                <a:cs typeface="Source Han Sans SC"/>
              </a:rPr>
              <a:t>20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1B926C-CEE6-4968-BB80-09C464F4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3975" b="1">
                <a:solidFill>
                  <a:srgbClr val="9B5936"/>
                </a:solidFill>
                <a:latin typeface="Source Han Sans SC"/>
                <a:ea typeface="Source Han Sans SC"/>
                <a:cs typeface="Source Han Sans SC"/>
              </a:rPr>
              <a:t>00_评审导读.html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B12354-9646-432D-B27C-235C471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双击离线阅读，查看完整案例、尝试历史与实际来源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F25A2-A183-4534-AA96-41745B87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D4D9D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201B1B8-A843-4BC9-951C-81BC805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设计与实现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E86F671-9DA9-41EC-BE00-DA8DD7E3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设计报告、技术实现说明书，Word与PDF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6C54B0-1193-4706-882D-66E7FA5D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复现与证据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86F34F-58F6-499A-8DF4-6CC5723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源码ZIP、实测说明、完整问答与模型策略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F80DD51-CD69-4621-9B44-DE2204BD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250" b="1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演示与边界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075D6A4-7F7F-4C53-ACF7-908A3C03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defPPr>
            <a:lvl1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1pPr>
            <a:lvl2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2pPr>
            <a:lvl3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3pPr>
            <a:lvl4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4pPr>
            <a:lvl5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5pPr>
            <a:lvl6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6pPr>
            <a:lvl7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7pPr>
            <a:lvl8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8pPr>
            <a:lvl9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100" b="0">
                <a:solidFill>
                  <a:srgbClr val="26332E"/>
                </a:solidFill>
                <a:latin typeface="Source Han Sans SC"/>
                <a:ea typeface="Source Han Sans SC"/>
                <a:cs typeface="Source Han Sans SC"/>
              </a:rPr>
              <a:t>本稿PPTX/PDF、实机截图与全部失败记录</a:t>
            </a:r>
          </a:p>
        </p:txBody>
      </p:sp>
    </p:spTree>
    <p:extLst>
      <p:ext uri="{BB962C8B-B14F-4D97-AF65-F5344CB8AC3E}">
        <p14:creationId xmlns:p14="http://schemas.microsoft.com/office/powerpoint/2010/main" val="1717610675"/>
      </p:ext>
    </p:extLst>
  </p:cSld>
</p:sld>
</file>

<file path=ppt/theme/theme1.xml><?xml version="1.0" encoding="utf-8"?>
<a:theme xmlns:a="http://schemas.openxmlformats.org/drawingml/2006/main" name="ChatGPT">
  <a:themeElements>
    <a:clrScheme name="知衡 暖白铜灰绿">
      <a:dk1>
        <a:srgbClr val="26332E"/>
      </a:dk1>
      <a:lt1>
        <a:srgbClr val="FFFFFF"/>
      </a:lt1>
      <a:dk2>
        <a:srgbClr val="3F4E44"/>
      </a:dk2>
      <a:lt2>
        <a:srgbClr val="E8EAE4"/>
      </a:lt2>
      <a:accent1>
        <a:srgbClr val="9B5936"/>
      </a:accent1>
      <a:accent2>
        <a:srgbClr val="819287"/>
      </a:accent2>
      <a:accent3>
        <a:srgbClr val="B4A998"/>
      </a:accent3>
      <a:accent4>
        <a:srgbClr val="7E7870"/>
      </a:accent4>
      <a:accent5>
        <a:srgbClr val="4D6255"/>
      </a:accent5>
      <a:accent6>
        <a:srgbClr val="BAA188"/>
      </a:accent6>
      <a:hlink>
        <a:srgbClr val="9B5936"/>
      </a:hlink>
      <a:folHlink>
        <a:srgbClr val="819287"/>
      </a:folHlink>
    </a:clrScheme>
    <a:fontScheme name="">
      <a:majorFont>
        <a:latin typeface="Source Han Sans SC"/>
        <a:ea typeface=""/>
        <a:cs typeface=""/>
      </a:majorFont>
      <a:minorFont>
        <a:latin typeface="Source Han Sans SC"/>
        <a:ea typeface=""/>
        <a:cs typeface=""/>
      </a:minorFont>
    </a:fontScheme>
    <a:fmtScheme name="知衡 暖白铜灰绿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2026-10-18T20:45:00.6620000Z</dcterms:created>
  <dcterms:modified xsi:type="dcterms:W3CDTF">2026-10-18T20:45:00.6620000Z</dcterms:modified>
</coreProperties>
</file>